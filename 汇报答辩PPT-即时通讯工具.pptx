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4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tags" Target="../tags/tag7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2743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60120"/>
            <a:ext cx="12191695" cy="7067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即时通讯工具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软件工程课程设计 · 汇报答辩</a:t>
            </a:r>
            <a:endParaRPr sz="17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011680" y="3246120"/>
            <a:ext cx="2560320" cy="1051560"/>
          </a:xfrm>
          <a:prstGeom prst="roundRect">
            <a:avLst/>
          </a:prstGeom>
          <a:solidFill>
            <a:srgbClr val="2A63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35584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赵翔  25112002136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11680" y="37490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网络通信与服务端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54880" y="3246120"/>
            <a:ext cx="2560320" cy="1051560"/>
          </a:xfrm>
          <a:prstGeom prst="roundRect">
            <a:avLst/>
          </a:prstGeom>
          <a:solidFill>
            <a:srgbClr val="2A63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35584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胡鸣  25112002139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54880" y="37490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数据库设计与数据层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498080" y="3246120"/>
            <a:ext cx="2560320" cy="1051560"/>
          </a:xfrm>
          <a:prstGeom prst="roundRect">
            <a:avLst/>
          </a:prstGeom>
          <a:solidFill>
            <a:srgbClr val="2A63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335584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茹桂堂  25112002124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98080" y="374904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客户端界面与交互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0" y="461772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</a:rPr>
              <a:t>分工：网络通信 / 界面交互 / 数据存储 三条技术线并行协作</a:t>
            </a:r>
            <a:endParaRPr sz="1300" b="0">
              <a:solidFill>
                <a:srgbClr val="9DC3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0" y="507492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2026 年 8 月 · 6号楼404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 录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95360" y="91440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sz="12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5120640" cy="137160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27632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A33D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400" b="1">
              <a:solidFill>
                <a:srgbClr val="E8A3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65960" y="157276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sz="2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65960" y="208483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课题来源与项目目标</a:t>
            </a:r>
            <a:endParaRPr sz="125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120640" cy="137160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627632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A33D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400" b="1">
              <a:solidFill>
                <a:srgbClr val="E8A3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43800" y="157276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软件需求</a:t>
            </a:r>
            <a:endParaRPr sz="2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43800" y="208483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六大功能域 · 非功能需求</a:t>
            </a:r>
            <a:endParaRPr sz="125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" y="3063240"/>
            <a:ext cx="5120640" cy="137160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319272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A33D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400" b="1">
              <a:solidFill>
                <a:srgbClr val="E8A3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65960" y="326440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概要设计</a:t>
            </a:r>
            <a:endParaRPr sz="2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65960" y="377647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系统架构 · 模块划分 · 数据库</a:t>
            </a:r>
            <a:endParaRPr sz="125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0" y="3063240"/>
            <a:ext cx="5120640" cy="137160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319272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A33D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3400" b="1">
              <a:solidFill>
                <a:srgbClr val="E8A3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43800" y="326440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详细设计</a:t>
            </a:r>
            <a:endParaRPr sz="2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43800" y="377647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通信协议 · 关键技术 · 安全</a:t>
            </a:r>
            <a:endParaRPr sz="125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2960" y="4754880"/>
            <a:ext cx="5120640" cy="137160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010912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A33D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3400" b="1">
              <a:solidFill>
                <a:srgbClr val="E8A3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65960" y="495604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系统实现</a:t>
            </a:r>
            <a:endParaRPr sz="2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65960" y="546811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界面展示与核心功能</a:t>
            </a:r>
            <a:endParaRPr sz="125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0" y="4754880"/>
            <a:ext cx="5120640" cy="137160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5010912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A33D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3400" b="1">
              <a:solidFill>
                <a:srgbClr val="E8A3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43800" y="495604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系统测试</a:t>
            </a:r>
            <a:endParaRPr sz="2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43800" y="546811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测试环境 · 用例与结论</a:t>
            </a:r>
            <a:endParaRPr sz="125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0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548640" y="1188720"/>
            <a:ext cx="5486400" cy="23774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676656" y="1252728"/>
            <a:ext cx="52303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课题来源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76656" y="1572768"/>
            <a:ext cx="5230368" cy="1478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zh-CN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即时通讯工具</a:t>
            </a: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是软件工程课程设计的典型课题：在网络编程基础上，综合运用 Java 多线程、Socket 通信、Swing 界面与数据库技术，在局域网内实现无外网依赖的即时通讯。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本组选择该课题，旨在完整实践「网络层、界面层、数据层」三层分离的团队协作开发。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4"/>
            </p:custDataLst>
          </p:nvPr>
        </p:nvSpPr>
        <p:spPr>
          <a:xfrm>
            <a:off x="6309360" y="1188720"/>
            <a:ext cx="5394960" cy="23774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6437376" y="1252728"/>
            <a:ext cx="5138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项目目标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6437376" y="1572768"/>
            <a:ext cx="5138928" cy="16935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基于 Java 语言设计实现一套完整的局域网聊天室系统：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客户端：Swing 图形界面框架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服务端：Socket 多线程模型（TCP </a:t>
            </a:r>
            <a:r>
              <a:rPr lang="zh-CN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端口</a:t>
            </a:r>
            <a:r>
              <a:rPr lang="en-US" altLang="zh-CN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8080）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数据：MySQL，JDBC 访问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功能：注册登录、公共聊天室、一对一私聊、历史记录、消息撤回、记录搜索、管理员管理、自定义头像与图片消息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7"/>
            </p:custDataLst>
          </p:nvPr>
        </p:nvSpPr>
        <p:spPr>
          <a:xfrm>
            <a:off x="548640" y="3794760"/>
            <a:ext cx="5486400" cy="21488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676656" y="3858768"/>
            <a:ext cx="52303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技术要点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676656" y="4178808"/>
            <a:ext cx="5230368" cy="1168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一连接一线程的多线程服务端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自定义文本行通信协议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JTable 自绘气泡消息列表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Base64 图片消息传输与校验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数据表</a:t>
            </a: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双份行模型的私聊记录存储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10"/>
            </p:custDataLst>
          </p:nvPr>
        </p:nvSpPr>
        <p:spPr>
          <a:xfrm>
            <a:off x="6309360" y="3794760"/>
            <a:ext cx="5394960" cy="21488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6437376" y="3858768"/>
            <a:ext cx="5138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开发方式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6437376" y="4178808"/>
            <a:ext cx="5138928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三人按「网络通信、界面交互、数据存储」三大技术线分工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联合调试：</a:t>
            </a:r>
            <a:r>
              <a:rPr lang="zh-CN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客户端、图片与头像功能</a:t>
            </a:r>
            <a:r>
              <a:rPr lang="zh-CN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联合测试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统一使用 IDEA + Git</a:t>
            </a:r>
            <a:r>
              <a:rPr lang="en-US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en-US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Sourcetree</a:t>
            </a: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 版本管理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0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软件需求 —— 六大功能域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548640" y="1234440"/>
            <a:ext cx="3520440" cy="1965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548640" y="1234440"/>
            <a:ext cx="82296" cy="19659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822960" y="1399032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用户管理</a:t>
            </a:r>
            <a:endParaRPr sz="16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822960" y="19202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注册登录、角色权限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（admin / user）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5"/>
            </p:custDataLst>
          </p:nvPr>
        </p:nvSpPr>
        <p:spPr>
          <a:xfrm>
            <a:off x="4343400" y="1234440"/>
            <a:ext cx="3520440" cy="1965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6"/>
            </p:custDataLst>
          </p:nvPr>
        </p:nvSpPr>
        <p:spPr>
          <a:xfrm>
            <a:off x="4343400" y="1234440"/>
            <a:ext cx="82296" cy="19659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4617720" y="1399032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公共聊天室</a:t>
            </a:r>
            <a:endParaRPr sz="16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4617720" y="19202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消息实时显示、历史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回放、图片消息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9"/>
            </p:custDataLst>
          </p:nvPr>
        </p:nvSpPr>
        <p:spPr>
          <a:xfrm>
            <a:off x="8138160" y="1234440"/>
            <a:ext cx="3520440" cy="1965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10"/>
            </p:custDataLst>
          </p:nvPr>
        </p:nvSpPr>
        <p:spPr>
          <a:xfrm>
            <a:off x="8138160" y="1234440"/>
            <a:ext cx="82296" cy="19659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8412480" y="1399032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私聊</a:t>
            </a:r>
            <a:endParaRPr sz="16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8412480" y="1920240"/>
            <a:ext cx="3108960" cy="572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一对一私聊、离线</a:t>
            </a:r>
            <a:r>
              <a:rPr lang="zh-CN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消息</a:t>
            </a: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投递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未读提示、历史搜索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13"/>
            </p:custDataLst>
          </p:nvPr>
        </p:nvSpPr>
        <p:spPr>
          <a:xfrm>
            <a:off x="548640" y="3520440"/>
            <a:ext cx="3520440" cy="1965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>
            <p:custDataLst>
              <p:tags r:id="rId14"/>
            </p:custDataLst>
          </p:nvPr>
        </p:nvSpPr>
        <p:spPr>
          <a:xfrm>
            <a:off x="548640" y="3520440"/>
            <a:ext cx="82296" cy="19659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822960" y="3685032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消息管理</a:t>
            </a:r>
            <a:endParaRPr sz="16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6"/>
            </p:custDataLst>
          </p:nvPr>
        </p:nvSpPr>
        <p:spPr>
          <a:xfrm>
            <a:off x="822960" y="4206240"/>
            <a:ext cx="3108960" cy="572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两分钟撤回、记录清空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lang="zh-CN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聊天记录</a:t>
            </a: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关键字搜索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>
            <p:custDataLst>
              <p:tags r:id="rId17"/>
            </p:custDataLst>
          </p:nvPr>
        </p:nvSpPr>
        <p:spPr>
          <a:xfrm>
            <a:off x="4343400" y="3520440"/>
            <a:ext cx="3520440" cy="1965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>
            <p:custDataLst>
              <p:tags r:id="rId18"/>
            </p:custDataLst>
          </p:nvPr>
        </p:nvSpPr>
        <p:spPr>
          <a:xfrm>
            <a:off x="4343400" y="3520440"/>
            <a:ext cx="82296" cy="19659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9"/>
            </p:custDataLst>
          </p:nvPr>
        </p:nvSpPr>
        <p:spPr>
          <a:xfrm>
            <a:off x="4617720" y="3685032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管理员功能</a:t>
            </a:r>
            <a:endParaRPr sz="16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20"/>
            </p:custDataLst>
          </p:nvPr>
        </p:nvSpPr>
        <p:spPr>
          <a:xfrm>
            <a:off x="4617720" y="4206240"/>
            <a:ext cx="3108960" cy="572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踢出用户、封禁账号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清空公共记录</a:t>
            </a:r>
            <a:r>
              <a:rPr lang="zh-CN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、查看用户</a:t>
            </a:r>
            <a:r>
              <a:rPr lang="zh-CN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私聊记录</a:t>
            </a:r>
            <a:endParaRPr lang="zh-CN"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>
            <p:custDataLst>
              <p:tags r:id="rId21"/>
            </p:custDataLst>
          </p:nvPr>
        </p:nvSpPr>
        <p:spPr>
          <a:xfrm>
            <a:off x="8138160" y="3520440"/>
            <a:ext cx="3520440" cy="19659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>
            <p:custDataLst>
              <p:tags r:id="rId22"/>
            </p:custDataLst>
          </p:nvPr>
        </p:nvSpPr>
        <p:spPr>
          <a:xfrm>
            <a:off x="8138160" y="3520440"/>
            <a:ext cx="82296" cy="19659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23"/>
            </p:custDataLst>
          </p:nvPr>
        </p:nvSpPr>
        <p:spPr>
          <a:xfrm>
            <a:off x="8412480" y="3685032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个性化功能</a:t>
            </a:r>
            <a:endParaRPr sz="16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24"/>
            </p:custDataLst>
          </p:nvPr>
        </p:nvSpPr>
        <p:spPr>
          <a:xfrm>
            <a:off x="8412480" y="4206240"/>
            <a:ext cx="3108960" cy="3314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自定义头像、图片消息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155680" cy="74980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5687568"/>
            <a:ext cx="108996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6656" y="6007608"/>
            <a:ext cx="108996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endParaRPr sz="120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7240" y="574243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非功能需求：连接失败、服务器断开、历史加载超时等异常场景均有明确提示与兜底处理，客户端不出现无响应状态。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0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概要设计 —— 系统总体架构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1480" y="1298448"/>
            <a:ext cx="4434840" cy="37947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0624" y="1307592"/>
            <a:ext cx="4416552" cy="310896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客 户 端（Swing 界面 + 网络层）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界面层（事件分发线程 EDT 更新）</a:t>
            </a:r>
            <a:endParaRPr sz="9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77240" y="1920240"/>
            <a:ext cx="1261872" cy="71323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登录 / 注册</a:t>
            </a:r>
            <a:endParaRPr sz="10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267712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chatEntryUI</a:t>
            </a:r>
            <a:endParaRPr sz="8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408176" y="2633472"/>
            <a:ext cx="0" cy="219456"/>
          </a:xfrm>
          <a:prstGeom prst="line">
            <a:avLst/>
          </a:prstGeom>
          <a:ln w="13970">
            <a:solidFill>
              <a:srgbClr val="2E75B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30552" y="1920240"/>
            <a:ext cx="1261872" cy="71323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76272" y="1993392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主聊天窗口</a:t>
            </a:r>
            <a:endParaRPr sz="10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76272" y="2267712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公共聊天·好友·管理</a:t>
            </a:r>
            <a:endParaRPr sz="8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2761488" y="2633472"/>
            <a:ext cx="0" cy="219456"/>
          </a:xfrm>
          <a:prstGeom prst="line">
            <a:avLst/>
          </a:prstGeom>
          <a:ln w="13970">
            <a:solidFill>
              <a:srgbClr val="2E75B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83864" y="1920240"/>
            <a:ext cx="1261872" cy="71323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93392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私聊 / 对话框</a:t>
            </a:r>
            <a:endParaRPr sz="10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29584" y="2267712"/>
            <a:ext cx="11704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私聊·好友申请</a:t>
            </a:r>
            <a:endParaRPr sz="8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4114800" y="2633472"/>
            <a:ext cx="0" cy="219456"/>
          </a:xfrm>
          <a:prstGeom prst="line">
            <a:avLst/>
          </a:prstGeom>
          <a:ln w="13970">
            <a:solidFill>
              <a:srgbClr val="2E75B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7240" y="2871216"/>
            <a:ext cx="3703320" cy="5486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935224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网络层 chatClient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1210" y="3566160"/>
            <a:ext cx="3703320" cy="391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独立接收线程 · Listener 回调</a:t>
            </a:r>
            <a:endParaRPr sz="85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</a:pPr>
            <a:r>
              <a:rPr lang="zh-CN" altLang="en-US" sz="8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等待服务端</a:t>
            </a:r>
            <a:r>
              <a:rPr lang="en-US" altLang="zh-CN" sz="8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Socket</a:t>
            </a:r>
            <a:r>
              <a:rPr lang="zh-CN" altLang="en-US" sz="8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传来数据</a:t>
            </a:r>
            <a:r>
              <a:rPr sz="8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 切回 EDT</a:t>
            </a:r>
            <a:endParaRPr sz="85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4498848"/>
            <a:ext cx="3703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发送方法 sendLine 统一出口</a:t>
            </a:r>
            <a:endParaRPr sz="85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</a:pPr>
            <a:r>
              <a:rPr sz="8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过滤 \r\n，防止换行注入拆命令</a:t>
            </a:r>
            <a:endParaRPr sz="85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315200" y="1298448"/>
            <a:ext cx="4434840" cy="37947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1307592"/>
            <a:ext cx="4416552" cy="310896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1316736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服 务 端（Socket 多线程）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680960" y="1755648"/>
            <a:ext cx="1783080" cy="7772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80" y="18288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连接管理</a:t>
            </a:r>
            <a:endParaRPr sz="10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26680" y="210312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主线程 accept</a:t>
            </a:r>
            <a:endParaRPr sz="8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一连接一线程</a:t>
            </a:r>
            <a:endParaRPr sz="8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601200" y="1755648"/>
            <a:ext cx="1783080" cy="7772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182880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协议分发</a:t>
            </a:r>
            <a:endParaRPr sz="10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646920" y="2103120"/>
            <a:ext cx="1691640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handleMessage类</a:t>
            </a:r>
            <a:endParaRPr sz="8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lang="zh-CN"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处理多种类型</a:t>
            </a:r>
            <a:r>
              <a:rPr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命令</a:t>
            </a:r>
            <a:endParaRPr sz="8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680960" y="2670048"/>
            <a:ext cx="3703320" cy="7772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80" y="274320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消息管道</a:t>
            </a:r>
            <a:endParaRPr sz="10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26680" y="3017520"/>
            <a:ext cx="3611880" cy="213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过滤</a:t>
            </a:r>
            <a:r>
              <a:rPr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 → 魔数校验 → 入库 → 广播 → 提醒</a:t>
            </a:r>
            <a:endParaRPr sz="8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680960" y="3447288"/>
            <a:ext cx="3703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先入库后广播，历史回放与实时广播一致</a:t>
            </a:r>
            <a:endParaRPr sz="8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680960" y="3694176"/>
            <a:ext cx="1783080" cy="7772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26680" y="376732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会话与权限</a:t>
            </a:r>
            <a:endParaRPr sz="10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26680" y="404164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登录校验</a:t>
            </a:r>
            <a:endParaRPr sz="8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踢人 · 封禁</a:t>
            </a:r>
            <a:endParaRPr sz="8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9601200" y="3694176"/>
            <a:ext cx="1783080" cy="7772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46920" y="376732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好友管理</a:t>
            </a:r>
            <a:endParaRPr sz="105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646920" y="4041648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好友申请</a:t>
            </a:r>
            <a:endParaRPr sz="8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列表 · 删除</a:t>
            </a:r>
            <a:endParaRPr sz="8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680960" y="4572000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登录校验 → 权限校验（isAdmin）</a:t>
            </a:r>
            <a:endParaRPr sz="85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</a:pPr>
            <a:r>
              <a:rPr sz="8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未登录连接忽略一切命令</a:t>
            </a:r>
            <a:endParaRPr sz="85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4919472" y="2788920"/>
            <a:ext cx="2322576" cy="0"/>
          </a:xfrm>
          <a:prstGeom prst="line">
            <a:avLst/>
          </a:prstGeom>
          <a:ln w="25400">
            <a:solidFill>
              <a:srgbClr val="E8A33D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919472" y="1691640"/>
            <a:ext cx="232257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TCP Socket</a:t>
            </a:r>
            <a:endParaRPr sz="1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自定义文本行协议</a:t>
            </a:r>
            <a:endParaRPr sz="1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9528048" y="5093208"/>
            <a:ext cx="0" cy="329184"/>
          </a:xfrm>
          <a:prstGeom prst="line">
            <a:avLst/>
          </a:prstGeom>
          <a:ln w="22860">
            <a:solidFill>
              <a:srgbClr val="2E75B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162288" y="5148072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JDBC</a:t>
            </a:r>
            <a:endParaRPr sz="9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411480" y="5440680"/>
            <a:ext cx="11338560" cy="86868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5440680"/>
            <a:ext cx="13716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559612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MySQL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数据库 (lanchat)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920240" y="5513832"/>
            <a:ext cx="1792224" cy="71323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65960" y="5586984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Users</a:t>
            </a:r>
            <a:endParaRPr sz="1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965960" y="5861304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用户·角色·头像</a:t>
            </a:r>
            <a:endParaRPr sz="8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3803904" y="5513832"/>
            <a:ext cx="1792224" cy="71323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49624" y="5586984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PublicMessages</a:t>
            </a:r>
            <a:endParaRPr sz="1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849624" y="5861304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公共消息·撤回ID</a:t>
            </a:r>
            <a:endParaRPr sz="8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687568" y="5513832"/>
            <a:ext cx="1792224" cy="71323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33288" y="5586984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PrivateMessages</a:t>
            </a:r>
            <a:endParaRPr sz="1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733288" y="5861304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私聊双份行·未读</a:t>
            </a:r>
            <a:endParaRPr sz="8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7571231" y="5513832"/>
            <a:ext cx="1792224" cy="71323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16951" y="5586984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Friendships</a:t>
            </a:r>
            <a:endParaRPr sz="1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616951" y="5861304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好友关系</a:t>
            </a:r>
            <a:endParaRPr sz="8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9454896" y="5513832"/>
            <a:ext cx="1792224" cy="713232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00616" y="5586984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FriendRequests</a:t>
            </a:r>
            <a:endParaRPr sz="1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500616" y="5861304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好友申请</a:t>
            </a:r>
            <a:endParaRPr sz="8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11480" y="6382512"/>
            <a:ext cx="11338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启动时自动建库建表与结构迁移（补 role / avatar 列 · TEXT→MEDIUMTEXT · client_id 索引）</a:t>
            </a:r>
            <a:endParaRPr sz="9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0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概要设计 —— 模块划分与数据库设计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548640" y="1115568"/>
            <a:ext cx="5486400" cy="2084831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676656" y="1179576"/>
            <a:ext cx="52303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客户端模块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76656" y="1499616"/>
            <a:ext cx="5230368" cy="1627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网络层 chatClient：独立接收线程 + 监听器回调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登录界面 chatEntryUI：注册/登录/服务器配置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主聊天窗口 clientChatUI：公共聊天、好友列表、未读徽标、头像入口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私聊窗口 privateChatUI：独立会话、搜索、清空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气泡消息列表 bubbleChatList：单列 JTable 自绘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4"/>
            </p:custDataLst>
          </p:nvPr>
        </p:nvSpPr>
        <p:spPr>
          <a:xfrm>
            <a:off x="6309360" y="1115568"/>
            <a:ext cx="5394960" cy="2084831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6437376" y="1179576"/>
            <a:ext cx="5138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服务端模块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6437376" y="1499616"/>
            <a:ext cx="5138928" cy="1168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连接管理：主线程 accept，一连接一线程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协议分发：按命令前缀分发，先登录校验后执行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消息管道：清洗 → 入库 → 广播 → @检测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会话与权限：登录校验、踢人、封禁；好友管理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数据访问 dbManager：建库建表、</a:t>
            </a:r>
            <a:r>
              <a:rPr lang="zh-CN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迁移、增删改查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364992"/>
          <a:ext cx="1115568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  <a:gridCol w="2468880"/>
                <a:gridCol w="1371600"/>
                <a:gridCol w="2011680"/>
              </a:tblGrid>
              <a:tr h="4343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数据表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关键字段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用途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要点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sz="1150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内容</a:t>
                      </a:r>
                      <a:endParaRPr sz="1150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Users 用户表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username(主键) / password / role / avatar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用户账号、角色、头像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头像 MEDIUMBLOB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PublicMessages 公共消息表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id / send_time / sender / content / client_id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公共聊天历史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client_id 供撤回定位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PrivateMessages 私聊消息表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owner / peer / sender / is_read / content / client_id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私聊历史与未读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双份行模型，各自清空互不影响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Friendships 好友关系表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user_a / user_b / created_at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双向好友关系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user_a&lt;user_b 规范化一行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FriendRequests 好友申请表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from_user / to_user / created_at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待处理好友申请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UNIQUE 防重复申请</a:t>
                      </a:r>
                      <a:endParaRPr sz="10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6053328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系统启动时自动建库建表并完成结构迁移（补 role / avatar 列、TEXT→MEDIUMTEXT 扩容、加 client_id 索引）。</a:t>
            </a:r>
            <a:endParaRPr sz="11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0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详细设计 —— 通信协议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577840" cy="26060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207008"/>
            <a:ext cx="5321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协议设计要点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6656" y="1527048"/>
            <a:ext cx="5321808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自定义文本行协议：一行一条命令，UTF-8 编码，冒号分隔字段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内容字段固定放最后：indexOf(':') 只切固定字段，内容可含冒号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保留字符约束：冒号、逗号禁止出现在用户名中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时间戳用 epoch 毫秒纯数字，规避 HH:mm:ss 冒号问题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消息 ID 由服务端生成 UUID，不接受客户端传入，防伪造撤回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55080" y="1143000"/>
            <a:ext cx="5349240" cy="26060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207008"/>
            <a:ext cx="5093208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核心命令（</a:t>
            </a:r>
            <a:r>
              <a:rPr lang="zh-CN"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部分</a:t>
            </a: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83096" y="1527048"/>
            <a:ext cx="5093208" cy="20300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客户端→服务端：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REGISTER / LOGIN —— 注册登录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MSG / PM —— 公共 / 私聊消息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RECALL / PMRECALL —— 撤回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KICK / BAN / CLEARPUBLIC —— 管理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HIST / UNREAD / SEARCHPUB —— 历史未读搜索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GETAVATAR / SETAVATAR —— 头像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服务端→客户端：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USERS / HISTBEGIN·ITEM·END / RECALLED 等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5577840" cy="21945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4041647"/>
            <a:ext cx="5321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消息管道一致性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6656" y="4361687"/>
            <a:ext cx="5321808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内容型消息依次经过：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长度与格式清洗 → 图片合法性校验 → 数据库保存 → 实时广播 → @提醒扫描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先入库后广播：保证历史回放与实时广播的顺序完全一致，入库失败则不广播。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55080" y="3977639"/>
            <a:ext cx="5349240" cy="219456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4041647"/>
            <a:ext cx="5093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图片消息传输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83096" y="4361687"/>
            <a:ext cx="5093208" cy="953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图片压缩至长边 ≤1280px、体积 ≤1MB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以 [IMG]+Base64 内容自描述格式传输与存储，协议命令零扩展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服务端校验 Base64 合法性与图片魔数（JPEG/PNG 文件头），非法数据直接丢弃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0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详细设计 —— 关键技术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548640" y="1188720"/>
            <a:ext cx="5440680" cy="224028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548640" y="1188720"/>
            <a:ext cx="82296" cy="22402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822960" y="1325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JTable 可变行高气泡渲染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822960" y="1755648"/>
            <a:ext cx="49834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单列 JTable 自绘：prepareRenderer 按内容计算行高，LineBreakMeasurer 按字符边界断行，中文/英文/表情换行正确、不拆散代理对；绘制在渲染器内完成，避免事件派发问题。</a:t>
            </a:r>
            <a:endParaRPr sz="120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5"/>
            </p:custDataLst>
          </p:nvPr>
        </p:nvSpPr>
        <p:spPr>
          <a:xfrm>
            <a:off x="6263640" y="1188720"/>
            <a:ext cx="5440680" cy="224028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6"/>
            </p:custDataLst>
          </p:nvPr>
        </p:nvSpPr>
        <p:spPr>
          <a:xfrm>
            <a:off x="6263640" y="1188720"/>
            <a:ext cx="82296" cy="22402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6537960" y="1325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头像按需拉取与版本控制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6537960" y="1755648"/>
            <a:ext cx="49834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头像不随列表广播，绘制时按需拉取，内存缓存 + 负缓存防重复请求；变更时广播通知清除缓存；版本号机制丢弃陈旧响应，快速连换头像最终一致。</a:t>
            </a:r>
            <a:endParaRPr sz="120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9"/>
            </p:custDataLst>
          </p:nvPr>
        </p:nvSpPr>
        <p:spPr>
          <a:xfrm>
            <a:off x="548640" y="3703320"/>
            <a:ext cx="5440680" cy="224028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10"/>
            </p:custDataLst>
          </p:nvPr>
        </p:nvSpPr>
        <p:spPr>
          <a:xfrm>
            <a:off x="548640" y="3703320"/>
            <a:ext cx="82296" cy="22402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822960" y="38404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消息撤回机制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822960" y="4270248"/>
            <a:ext cx="49834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服务端生成全局唯一消息 ID；撤回校验 2 分钟时间窗口 + 操作者权限（普通用户仅自己的消息，管理员任意）；通过后广播撤回事件，全端同步替换为撤回提示。</a:t>
            </a:r>
            <a:endParaRPr sz="120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13"/>
            </p:custDataLst>
          </p:nvPr>
        </p:nvSpPr>
        <p:spPr>
          <a:xfrm>
            <a:off x="6263640" y="3703320"/>
            <a:ext cx="5440680" cy="224028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>
            <p:custDataLst>
              <p:tags r:id="rId14"/>
            </p:custDataLst>
          </p:nvPr>
        </p:nvSpPr>
        <p:spPr>
          <a:xfrm>
            <a:off x="6263640" y="3703320"/>
            <a:ext cx="82296" cy="22402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6537960" y="38404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多线程与并发控制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6"/>
            </p:custDataLst>
          </p:nvPr>
        </p:nvSpPr>
        <p:spPr>
          <a:xfrm>
            <a:off x="6537960" y="4270248"/>
            <a:ext cx="4983480" cy="525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服务端一连接一线程，在线表 ConcurrentHashMap；客户端独立接收线程；历史加载期间实时消息先缓冲后按序补渲染，避免重复乱序。</a:t>
            </a:r>
            <a:endParaRPr sz="120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10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系统实现 —— 界面展示（一）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950" y="5596255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登录 / 注册界面</a:t>
            </a:r>
            <a:endParaRPr sz="115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23130" y="56692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主聊天窗口（公共聊天室）</a:t>
            </a:r>
            <a:endParaRPr sz="115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983470" y="1115695"/>
            <a:ext cx="2011680" cy="484632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2286" y="1252728"/>
            <a:ext cx="17556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功能入口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66401" y="1529588"/>
            <a:ext cx="1755648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在线用户列表（未读红点）</a:t>
            </a:r>
            <a:endParaRPr sz="10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双击发起私聊</a:t>
            </a:r>
            <a:endParaRPr sz="10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好友申请与管理</a:t>
            </a:r>
            <a:endParaRPr sz="10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@提醒、图片发送</a:t>
            </a:r>
            <a:endParaRPr sz="10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自定义头像</a:t>
            </a:r>
            <a:endParaRPr sz="10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消息撤回</a:t>
            </a:r>
            <a:endParaRPr sz="10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管理员入口</a:t>
            </a:r>
            <a:endParaRPr sz="10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sz="10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45" y="1252855"/>
            <a:ext cx="3268345" cy="407543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565" y="1132840"/>
            <a:ext cx="6342380" cy="4425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系统实现 —— 界面展示（二）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5916295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一对一私聊窗口</a:t>
            </a:r>
            <a:endParaRPr sz="115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09160" y="5916295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管理员查看任意用户私聊记录</a:t>
            </a:r>
            <a:endParaRPr sz="115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8229600" y="1188720"/>
            <a:ext cx="3520440" cy="23774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8357616" y="1252728"/>
            <a:ext cx="3264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私聊功能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8357616" y="1572768"/>
            <a:ext cx="3264408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独立会话窗口，实时收发</a:t>
            </a:r>
            <a:endParaRPr sz="11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离线投递：对方离线消息仍入库，上线后可查</a:t>
            </a:r>
            <a:endParaRPr sz="11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未读红点：打开窗口自动标记已读</a:t>
            </a:r>
            <a:endParaRPr sz="11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会话历史独立保存，支持关键字搜索</a:t>
            </a:r>
            <a:endParaRPr sz="11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任意一方清空记录不影响对方（双份行模型）</a:t>
            </a:r>
            <a:endParaRPr sz="11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4"/>
            </p:custDataLst>
          </p:nvPr>
        </p:nvSpPr>
        <p:spPr>
          <a:xfrm>
            <a:off x="8229600" y="3749039"/>
            <a:ext cx="3520440" cy="224028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8357616" y="3813047"/>
            <a:ext cx="3264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管理员功能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8357616" y="4133087"/>
            <a:ext cx="326440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踢出在线用户、封禁账号（删除账号及私聊数据）</a:t>
            </a:r>
            <a:endParaRPr sz="11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清空公共聊天记录（向全体广播）</a:t>
            </a:r>
            <a:endParaRPr sz="11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查看任意两名用户的私聊记录</a:t>
            </a:r>
            <a:endParaRPr sz="11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1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撤回任意用户的公共消息</a:t>
            </a:r>
            <a:endParaRPr sz="11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60" y="1076325"/>
            <a:ext cx="3630295" cy="464693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7975" y="1064260"/>
            <a:ext cx="3997325" cy="4638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系统实现 —— 技术栈与工程化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548640" y="1188720"/>
            <a:ext cx="5394960" cy="228600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676656" y="1252728"/>
            <a:ext cx="5138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开发环境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76656" y="1572768"/>
            <a:ext cx="5138928" cy="1168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语言：Java（JDK 17+）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界面：Swing / AWT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网络：java.net Socket / ServerSocket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数据库：MySQL 8.0 + JDBC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图片处理：ImageIO / Base64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4"/>
            </p:custDataLst>
          </p:nvPr>
        </p:nvSpPr>
        <p:spPr>
          <a:xfrm>
            <a:off x="6217920" y="1188720"/>
            <a:ext cx="5394960" cy="228600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6345936" y="1252728"/>
            <a:ext cx="5138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工程化实践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6345936" y="1572768"/>
            <a:ext cx="5138928" cy="953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个 Java 类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IDEA + Git 团队协作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config.properties 配置数据库，jar 同目录优先查找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密码等敏感配置已被 .gitignore 排除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7"/>
            </p:custDataLst>
          </p:nvPr>
        </p:nvSpPr>
        <p:spPr>
          <a:xfrm>
            <a:off x="548640" y="3657600"/>
            <a:ext cx="5394960" cy="23774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676656" y="3721608"/>
            <a:ext cx="5138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安全设计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676656" y="4041648"/>
            <a:ext cx="5138928" cy="953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消息限长 2000 字符，图片整体校验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图片 / 头像魔数校验（JPEG / PNG 文件头）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管理命令统一 isAdmin 前置校验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未登录连接忽略一切命令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10"/>
            </p:custDataLst>
          </p:nvPr>
        </p:nvSpPr>
        <p:spPr>
          <a:xfrm>
            <a:off x="6217920" y="3657600"/>
            <a:ext cx="5394960" cy="23774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6345936" y="3721608"/>
            <a:ext cx="5138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健壮性设计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6330696" y="4041648"/>
            <a:ext cx="5138928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断开清理统一收敛 disconnect()，防重复广播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历史回放</a:t>
            </a:r>
            <a:r>
              <a:rPr lang="zh-CN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出现</a:t>
            </a: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异常分支也发送 END</a:t>
            </a:r>
            <a:r>
              <a:rPr lang="en-US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标记</a:t>
            </a: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防止</a:t>
            </a: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客户端卡加载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禁止</a:t>
            </a:r>
            <a:r>
              <a:rPr sz="125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自聊、超长消息截断、空白消息丢弃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sz="10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系统测试 —— 测试环境与执行情况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927735"/>
            <a:ext cx="5394960" cy="21488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991743"/>
            <a:ext cx="5138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测试环境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6656" y="1311783"/>
            <a:ext cx="5138928" cy="1168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操作系统：Windows 11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运行时：JDK 17（OpenJDK 17）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数据库：MySQL 8.0，localhost:3306/lanchat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服务端：chatServer 监听 8080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客户端：Swing 桌面程序，</a:t>
            </a:r>
            <a:r>
              <a:rPr lang="zh-CN" sz="125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</a:t>
            </a:r>
            <a:r>
              <a:rPr sz="125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实例并发联测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927735"/>
            <a:ext cx="5394960" cy="214884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5936" y="991743"/>
            <a:ext cx="51389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测试策略</a:t>
            </a:r>
            <a:endParaRPr sz="14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45936" y="1311783"/>
            <a:ext cx="5138928" cy="1168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客户端功能测试：启动服务端与客户端，按功能域逐项操作界面验证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覆盖六大功能域</a:t>
            </a:r>
            <a:r>
              <a:rPr lang="zh-CN" sz="125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</a:t>
            </a:r>
            <a:r>
              <a:rPr sz="125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个用例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含 5 个异常与安全用例：特殊字符消息、非法图片文件、越权操作、伪造消息 ID、未登录访问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25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独立测试账号 + 双客户端交互验证 + 测试后数据核查</a:t>
            </a:r>
            <a:endParaRPr sz="125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1"/>
            </p:custDataLst>
          </p:nvPr>
        </p:nvSpPr>
        <p:spPr>
          <a:xfrm>
            <a:off x="541655" y="3224530"/>
            <a:ext cx="2606040" cy="137160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2"/>
            </p:custDataLst>
          </p:nvPr>
        </p:nvSpPr>
        <p:spPr>
          <a:xfrm>
            <a:off x="541655" y="3379977"/>
            <a:ext cx="260604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E8A33D"/>
                </a:solidFill>
                <a:latin typeface="微软雅黑" panose="020B0503020204020204" charset="-122"/>
                <a:ea typeface="微软雅黑" panose="020B0503020204020204" charset="-122"/>
              </a:rPr>
              <a:t>34</a:t>
            </a:r>
            <a:endParaRPr sz="3200" b="1">
              <a:solidFill>
                <a:srgbClr val="E8A3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541655" y="4020058"/>
            <a:ext cx="2606040" cy="2914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测试用例</a:t>
            </a:r>
            <a:endParaRPr sz="13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4"/>
            </p:custDataLst>
          </p:nvPr>
        </p:nvSpPr>
        <p:spPr>
          <a:xfrm>
            <a:off x="3422015" y="3224530"/>
            <a:ext cx="2606040" cy="137160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5"/>
            </p:custDataLst>
          </p:nvPr>
        </p:nvSpPr>
        <p:spPr>
          <a:xfrm>
            <a:off x="3422015" y="3379977"/>
            <a:ext cx="260604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E8A33D"/>
                </a:solidFill>
                <a:latin typeface="微软雅黑" panose="020B0503020204020204" charset="-122"/>
                <a:ea typeface="微软雅黑" panose="020B0503020204020204" charset="-122"/>
              </a:rPr>
              <a:t>37</a:t>
            </a:r>
            <a:endParaRPr sz="3200" b="1">
              <a:solidFill>
                <a:srgbClr val="E8A3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3422015" y="4020058"/>
            <a:ext cx="2606040" cy="2914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断言项</a:t>
            </a:r>
            <a:endParaRPr sz="13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7"/>
            </p:custDataLst>
          </p:nvPr>
        </p:nvSpPr>
        <p:spPr>
          <a:xfrm>
            <a:off x="6302374" y="3224530"/>
            <a:ext cx="2606040" cy="137160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8"/>
            </p:custDataLst>
          </p:nvPr>
        </p:nvSpPr>
        <p:spPr>
          <a:xfrm>
            <a:off x="6302374" y="3379977"/>
            <a:ext cx="260604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E8A33D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endParaRPr sz="3200" b="1">
              <a:solidFill>
                <a:srgbClr val="E8A3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9"/>
            </p:custDataLst>
          </p:nvPr>
        </p:nvSpPr>
        <p:spPr>
          <a:xfrm>
            <a:off x="6302374" y="4020058"/>
            <a:ext cx="2606040" cy="2914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通过率</a:t>
            </a:r>
            <a:endParaRPr sz="13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10"/>
            </p:custDataLst>
          </p:nvPr>
        </p:nvSpPr>
        <p:spPr>
          <a:xfrm>
            <a:off x="9182734" y="3224530"/>
            <a:ext cx="2606040" cy="1371600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1"/>
            </p:custDataLst>
          </p:nvPr>
        </p:nvSpPr>
        <p:spPr>
          <a:xfrm>
            <a:off x="9182734" y="3379977"/>
            <a:ext cx="260604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E8A33D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3200" b="1">
              <a:solidFill>
                <a:srgbClr val="E8A3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2"/>
            </p:custDataLst>
          </p:nvPr>
        </p:nvSpPr>
        <p:spPr>
          <a:xfrm>
            <a:off x="9182734" y="4020058"/>
            <a:ext cx="2606040" cy="2914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遗留缺陷</a:t>
            </a:r>
            <a:endParaRPr sz="13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4685665"/>
          <a:ext cx="1115568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743200"/>
                <a:gridCol w="3657600"/>
              </a:tblGrid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功能域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用例数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通过率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认证与登录</a:t>
                      </a:r>
                      <a:endParaRPr sz="11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sz="11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100%</a:t>
                      </a:r>
                      <a:endParaRPr sz="11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公共消息</a:t>
                      </a:r>
                      <a:endParaRPr sz="11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1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100%</a:t>
                      </a:r>
                      <a:endParaRPr sz="11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私聊</a:t>
                      </a:r>
                      <a:endParaRPr sz="11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sz="11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100%</a:t>
                      </a:r>
                      <a:endParaRPr sz="11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消息撤回与 @ 提醒</a:t>
                      </a:r>
                      <a:endParaRPr sz="11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1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100%</a:t>
                      </a:r>
                      <a:endParaRPr sz="11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管理员功能与权限</a:t>
                      </a:r>
                      <a:endParaRPr sz="11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sz="11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100%</a:t>
                      </a:r>
                      <a:endParaRPr sz="11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图片、头像、搜索与健壮性</a:t>
                      </a:r>
                      <a:endParaRPr sz="11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sz="11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62B33"/>
                          </a:solidFill>
                          <a:latin typeface="微软雅黑" panose="020B0503020204020204" charset="-122"/>
                        </a:rPr>
                        <a:t>100%</a:t>
                      </a:r>
                      <a:endParaRPr sz="1150">
                        <a:solidFill>
                          <a:srgbClr val="262B33"/>
                        </a:solidFill>
                        <a:latin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10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系统测试 —— 测试结论</a:t>
            </a:r>
            <a:endParaRPr sz="2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109960" cy="102412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600200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功能正确性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31720" y="128016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认证、公共消息、私聊（含离线投递）、撤回、@提醒、管理功能、图片头像、搜索全部符合需求约定；协议字段解析（内容含冒号、时间戳数字格式）与设计一致。</a:t>
            </a:r>
            <a:endParaRPr sz="118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11109960" cy="102412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1600200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安全性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2801620"/>
            <a:ext cx="9144000" cy="29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换行注入、伪造图片、越权命令、伪造消息 ID、未登录注入等攻击场景均被拦截：</a:t>
            </a:r>
            <a:r>
              <a:rPr lang="zh-CN" sz="118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过滤</a:t>
            </a:r>
            <a:r>
              <a:rPr sz="118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、魔数校验、isAdmin 权限校验。</a:t>
            </a:r>
            <a:endParaRPr sz="118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11109960" cy="102412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1600200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健壮性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31720" y="374904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超长消息截断、空白消息丢弃、未知命令容错、异常断连清理正常；多客户端并发下服务端运行稳定，无内存泄漏迹象。</a:t>
            </a:r>
            <a:endParaRPr sz="118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4892040"/>
            <a:ext cx="11109960" cy="1024128"/>
          </a:xfrm>
          <a:prstGeom prst="roundRect">
            <a:avLst/>
          </a:prstGeom>
          <a:solidFill>
            <a:srgbClr val="F2F6FB"/>
          </a:solidFill>
          <a:ln w="9525">
            <a:solidFill>
              <a:srgbClr val="D5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92040"/>
            <a:ext cx="1600200" cy="10241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接口一致性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31720" y="4983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>
                <a:solidFill>
                  <a:srgbClr val="262B33"/>
                </a:solidFill>
                <a:latin typeface="微软雅黑" panose="020B0503020204020204" charset="-122"/>
                <a:ea typeface="微软雅黑" panose="020B0503020204020204" charset="-122"/>
              </a:rPr>
              <a:t>网络层与数据层、界面层衔接正常：消息 ID、未读数、双份行模型等跨模块约定经实测与设计一致。</a:t>
            </a:r>
            <a:endParaRPr sz="1180" b="0">
              <a:solidFill>
                <a:srgbClr val="262B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61722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</a:rPr>
              <a:t>结论：网络通信与服务端模块功能完备、安全机制有效、运行稳定，通过全部测试，可以交付。</a:t>
            </a:r>
            <a:endParaRPr sz="1350" b="1">
              <a:solidFill>
                <a:srgbClr val="2E8B5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F69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sz="1000" b="0">
              <a:solidFill>
                <a:srgbClr val="595F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2743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感谢观看，请批评指正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3337560"/>
            <a:ext cx="12191695" cy="3219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sz="15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即时通讯工具</a:t>
            </a:r>
            <a:r>
              <a:rPr sz="15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 · 小组成员：赵翔 · 胡鸣 · 茹桂堂</a:t>
            </a:r>
            <a:endParaRPr sz="15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2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3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4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5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6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7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8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9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10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11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12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13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14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15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16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17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18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19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20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21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22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23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24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25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26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27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28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29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30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31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32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33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34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35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36.xml><?xml version="1.0" encoding="utf-8"?>
<p:tagLst xmlns:p="http://schemas.openxmlformats.org/presentationml/2006/main">
  <p:tag name="KSO_WM_DIAGRAM_VIRTUALLY_FRAME" val="{&quot;height&quot;:334.8,&quot;left&quot;:43.2,&quot;top&quot;:97.2,&quot;width&quot;:874.8}"/>
</p:tagLst>
</file>

<file path=ppt/tags/tag37.xml><?xml version="1.0" encoding="utf-8"?>
<p:tagLst xmlns:p="http://schemas.openxmlformats.org/presentationml/2006/main">
  <p:tag name="KSO_WM_DIAGRAM_VIRTUALLY_FRAME" val="{&quot;height&quot;:164.1599212598425,&quot;left&quot;:43.2,&quot;top&quot;:87.84,&quot;width&quot;:878.4}"/>
</p:tagLst>
</file>

<file path=ppt/tags/tag38.xml><?xml version="1.0" encoding="utf-8"?>
<p:tagLst xmlns:p="http://schemas.openxmlformats.org/presentationml/2006/main">
  <p:tag name="KSO_WM_DIAGRAM_VIRTUALLY_FRAME" val="{&quot;height&quot;:164.1599212598425,&quot;left&quot;:43.2,&quot;top&quot;:87.84,&quot;width&quot;:878.4}"/>
</p:tagLst>
</file>

<file path=ppt/tags/tag39.xml><?xml version="1.0" encoding="utf-8"?>
<p:tagLst xmlns:p="http://schemas.openxmlformats.org/presentationml/2006/main">
  <p:tag name="KSO_WM_DIAGRAM_VIRTUALLY_FRAME" val="{&quot;height&quot;:164.1599212598425,&quot;left&quot;:43.2,&quot;top&quot;:87.84,&quot;width&quot;:878.4}"/>
</p:tagLst>
</file>

<file path=ppt/tags/tag40.xml><?xml version="1.0" encoding="utf-8"?>
<p:tagLst xmlns:p="http://schemas.openxmlformats.org/presentationml/2006/main">
  <p:tag name="KSO_WM_DIAGRAM_VIRTUALLY_FRAME" val="{&quot;height&quot;:164.1599212598425,&quot;left&quot;:43.2,&quot;top&quot;:87.84,&quot;width&quot;:878.4}"/>
</p:tagLst>
</file>

<file path=ppt/tags/tag41.xml><?xml version="1.0" encoding="utf-8"?>
<p:tagLst xmlns:p="http://schemas.openxmlformats.org/presentationml/2006/main">
  <p:tag name="KSO_WM_DIAGRAM_VIRTUALLY_FRAME" val="{&quot;height&quot;:164.1599212598425,&quot;left&quot;:43.2,&quot;top&quot;:87.84,&quot;width&quot;:878.4}"/>
</p:tagLst>
</file>

<file path=ppt/tags/tag42.xml><?xml version="1.0" encoding="utf-8"?>
<p:tagLst xmlns:p="http://schemas.openxmlformats.org/presentationml/2006/main">
  <p:tag name="KSO_WM_DIAGRAM_VIRTUALLY_FRAME" val="{&quot;height&quot;:164.1599212598425,&quot;left&quot;:43.2,&quot;top&quot;:87.84,&quot;width&quot;:878.4}"/>
</p:tagLst>
</file>

<file path=ppt/tags/tag43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44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45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46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47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48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49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50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51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52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53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54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55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56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57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58.xml><?xml version="1.0" encoding="utf-8"?>
<p:tagLst xmlns:p="http://schemas.openxmlformats.org/presentationml/2006/main">
  <p:tag name="KSO_WM_DIAGRAM_VIRTUALLY_FRAME" val="{&quot;height&quot;:374.4,&quot;left&quot;:43.2,&quot;top&quot;:93.6,&quot;width&quot;:878.4}"/>
</p:tagLst>
</file>

<file path=ppt/tags/tag59.xml><?xml version="1.0" encoding="utf-8"?>
<p:tagLst xmlns:p="http://schemas.openxmlformats.org/presentationml/2006/main">
  <p:tag name="KSO_WM_DIAGRAM_VIRTUALLY_FRAME" val="{&quot;height&quot;:377.99992125984244,&quot;left&quot;:648,&quot;top&quot;:93.6,&quot;width&quot;:277.2}"/>
</p:tagLst>
</file>

<file path=ppt/tags/tag60.xml><?xml version="1.0" encoding="utf-8"?>
<p:tagLst xmlns:p="http://schemas.openxmlformats.org/presentationml/2006/main">
  <p:tag name="KSO_WM_DIAGRAM_VIRTUALLY_FRAME" val="{&quot;height&quot;:377.99992125984244,&quot;left&quot;:648,&quot;top&quot;:93.6,&quot;width&quot;:277.2}"/>
</p:tagLst>
</file>

<file path=ppt/tags/tag61.xml><?xml version="1.0" encoding="utf-8"?>
<p:tagLst xmlns:p="http://schemas.openxmlformats.org/presentationml/2006/main">
  <p:tag name="KSO_WM_DIAGRAM_VIRTUALLY_FRAME" val="{&quot;height&quot;:377.99992125984244,&quot;left&quot;:648,&quot;top&quot;:93.6,&quot;width&quot;:277.2}"/>
</p:tagLst>
</file>

<file path=ppt/tags/tag62.xml><?xml version="1.0" encoding="utf-8"?>
<p:tagLst xmlns:p="http://schemas.openxmlformats.org/presentationml/2006/main">
  <p:tag name="KSO_WM_DIAGRAM_VIRTUALLY_FRAME" val="{&quot;height&quot;:377.99992125984244,&quot;left&quot;:648,&quot;top&quot;:93.6,&quot;width&quot;:277.2}"/>
</p:tagLst>
</file>

<file path=ppt/tags/tag63.xml><?xml version="1.0" encoding="utf-8"?>
<p:tagLst xmlns:p="http://schemas.openxmlformats.org/presentationml/2006/main">
  <p:tag name="KSO_WM_DIAGRAM_VIRTUALLY_FRAME" val="{&quot;height&quot;:377.99992125984244,&quot;left&quot;:648,&quot;top&quot;:93.6,&quot;width&quot;:277.2}"/>
</p:tagLst>
</file>

<file path=ppt/tags/tag64.xml><?xml version="1.0" encoding="utf-8"?>
<p:tagLst xmlns:p="http://schemas.openxmlformats.org/presentationml/2006/main">
  <p:tag name="KSO_WM_DIAGRAM_VIRTUALLY_FRAME" val="{&quot;height&quot;:377.99992125984244,&quot;left&quot;:648,&quot;top&quot;:93.6,&quot;width&quot;:277.2}"/>
</p:tagLst>
</file>

<file path=ppt/tags/tag65.xml><?xml version="1.0" encoding="utf-8"?>
<p:tagLst xmlns:p="http://schemas.openxmlformats.org/presentationml/2006/main">
  <p:tag name="KSO_WM_DIAGRAM_VIRTUALLY_FRAME" val="{&quot;height&quot;:381.6,&quot;left&quot;:43.2,&quot;top&quot;:93.6,&quot;width&quot;:871.2}"/>
</p:tagLst>
</file>

<file path=ppt/tags/tag66.xml><?xml version="1.0" encoding="utf-8"?>
<p:tagLst xmlns:p="http://schemas.openxmlformats.org/presentationml/2006/main">
  <p:tag name="KSO_WM_DIAGRAM_VIRTUALLY_FRAME" val="{&quot;height&quot;:381.6,&quot;left&quot;:43.2,&quot;top&quot;:93.6,&quot;width&quot;:871.2}"/>
</p:tagLst>
</file>

<file path=ppt/tags/tag67.xml><?xml version="1.0" encoding="utf-8"?>
<p:tagLst xmlns:p="http://schemas.openxmlformats.org/presentationml/2006/main">
  <p:tag name="KSO_WM_DIAGRAM_VIRTUALLY_FRAME" val="{&quot;height&quot;:381.6,&quot;left&quot;:43.2,&quot;top&quot;:93.6,&quot;width&quot;:871.2}"/>
</p:tagLst>
</file>

<file path=ppt/tags/tag68.xml><?xml version="1.0" encoding="utf-8"?>
<p:tagLst xmlns:p="http://schemas.openxmlformats.org/presentationml/2006/main">
  <p:tag name="KSO_WM_DIAGRAM_VIRTUALLY_FRAME" val="{&quot;height&quot;:381.6,&quot;left&quot;:43.2,&quot;top&quot;:93.6,&quot;width&quot;:871.2}"/>
</p:tagLst>
</file>

<file path=ppt/tags/tag69.xml><?xml version="1.0" encoding="utf-8"?>
<p:tagLst xmlns:p="http://schemas.openxmlformats.org/presentationml/2006/main">
  <p:tag name="KSO_WM_DIAGRAM_VIRTUALLY_FRAME" val="{&quot;height&quot;:381.6,&quot;left&quot;:43.2,&quot;top&quot;:93.6,&quot;width&quot;:871.2}"/>
</p:tagLst>
</file>

<file path=ppt/tags/tag70.xml><?xml version="1.0" encoding="utf-8"?>
<p:tagLst xmlns:p="http://schemas.openxmlformats.org/presentationml/2006/main">
  <p:tag name="KSO_WM_DIAGRAM_VIRTUALLY_FRAME" val="{&quot;height&quot;:381.6,&quot;left&quot;:43.2,&quot;top&quot;:93.6,&quot;width&quot;:871.2}"/>
</p:tagLst>
</file>

<file path=ppt/tags/tag71.xml><?xml version="1.0" encoding="utf-8"?>
<p:tagLst xmlns:p="http://schemas.openxmlformats.org/presentationml/2006/main">
  <p:tag name="KSO_WM_DIAGRAM_VIRTUALLY_FRAME" val="{&quot;height&quot;:381.6,&quot;left&quot;:43.2,&quot;top&quot;:93.6,&quot;width&quot;:871.2}"/>
</p:tagLst>
</file>

<file path=ppt/tags/tag72.xml><?xml version="1.0" encoding="utf-8"?>
<p:tagLst xmlns:p="http://schemas.openxmlformats.org/presentationml/2006/main">
  <p:tag name="KSO_WM_DIAGRAM_VIRTUALLY_FRAME" val="{&quot;height&quot;:381.6,&quot;left&quot;:43.2,&quot;top&quot;:93.6,&quot;width&quot;:871.2}"/>
</p:tagLst>
</file>

<file path=ppt/tags/tag73.xml><?xml version="1.0" encoding="utf-8"?>
<p:tagLst xmlns:p="http://schemas.openxmlformats.org/presentationml/2006/main">
  <p:tag name="KSO_WM_DIAGRAM_VIRTUALLY_FRAME" val="{&quot;height&quot;:381.6,&quot;left&quot;:43.2,&quot;top&quot;:93.6,&quot;width&quot;:871.2}"/>
</p:tagLst>
</file>

<file path=ppt/tags/tag74.xml><?xml version="1.0" encoding="utf-8"?>
<p:tagLst xmlns:p="http://schemas.openxmlformats.org/presentationml/2006/main">
  <p:tag name="KSO_WM_DIAGRAM_VIRTUALLY_FRAME" val="{&quot;height&quot;:381.6,&quot;left&quot;:43.2,&quot;top&quot;:93.6,&quot;width&quot;:871.2}"/>
</p:tagLst>
</file>

<file path=ppt/tags/tag75.xml><?xml version="1.0" encoding="utf-8"?>
<p:tagLst xmlns:p="http://schemas.openxmlformats.org/presentationml/2006/main">
  <p:tag name="KSO_WM_DIAGRAM_VIRTUALLY_FRAME" val="{&quot;height&quot;:381.6,&quot;left&quot;:43.2,&quot;top&quot;:93.6,&quot;width&quot;:871.2}"/>
</p:tagLst>
</file>

<file path=ppt/tags/tag76.xml><?xml version="1.0" encoding="utf-8"?>
<p:tagLst xmlns:p="http://schemas.openxmlformats.org/presentationml/2006/main">
  <p:tag name="KSO_WM_DIAGRAM_VIRTUALLY_FRAME" val="{&quot;height&quot;:381.6,&quot;left&quot;:43.2,&quot;top&quot;:93.6,&quot;width&quot;:871.2}"/>
</p:tagLst>
</file>

<file path=ppt/tags/tag77.xml><?xml version="1.0" encoding="utf-8"?>
<p:tagLst xmlns:p="http://schemas.openxmlformats.org/presentationml/2006/main">
  <p:tag name="KSO_WM_DIAGRAM_VIRTUALLY_FRAME" val="{&quot;height&quot;:113.7600787401575,&quot;left&quot;:42.65,&quot;top&quot;:248.1399212598425,&quot;width&quot;:885.5999212598424}"/>
</p:tagLst>
</file>

<file path=ppt/tags/tag78.xml><?xml version="1.0" encoding="utf-8"?>
<p:tagLst xmlns:p="http://schemas.openxmlformats.org/presentationml/2006/main">
  <p:tag name="KSO_WM_DIAGRAM_VIRTUALLY_FRAME" val="{&quot;height&quot;:113.7600787401575,&quot;left&quot;:42.65,&quot;top&quot;:248.1399212598425,&quot;width&quot;:885.5999212598424}"/>
</p:tagLst>
</file>

<file path=ppt/tags/tag79.xml><?xml version="1.0" encoding="utf-8"?>
<p:tagLst xmlns:p="http://schemas.openxmlformats.org/presentationml/2006/main">
  <p:tag name="KSO_WM_DIAGRAM_VIRTUALLY_FRAME" val="{&quot;height&quot;:113.7600787401575,&quot;left&quot;:42.65,&quot;top&quot;:248.1399212598425,&quot;width&quot;:885.5999212598424}"/>
</p:tagLst>
</file>

<file path=ppt/tags/tag80.xml><?xml version="1.0" encoding="utf-8"?>
<p:tagLst xmlns:p="http://schemas.openxmlformats.org/presentationml/2006/main">
  <p:tag name="KSO_WM_DIAGRAM_VIRTUALLY_FRAME" val="{&quot;height&quot;:113.7600787401575,&quot;left&quot;:42.65,&quot;top&quot;:248.1399212598425,&quot;width&quot;:885.5999212598424}"/>
</p:tagLst>
</file>

<file path=ppt/tags/tag81.xml><?xml version="1.0" encoding="utf-8"?>
<p:tagLst xmlns:p="http://schemas.openxmlformats.org/presentationml/2006/main">
  <p:tag name="KSO_WM_DIAGRAM_VIRTUALLY_FRAME" val="{&quot;height&quot;:113.7600787401575,&quot;left&quot;:42.65,&quot;top&quot;:248.1399212598425,&quot;width&quot;:885.5999212598424}"/>
</p:tagLst>
</file>

<file path=ppt/tags/tag82.xml><?xml version="1.0" encoding="utf-8"?>
<p:tagLst xmlns:p="http://schemas.openxmlformats.org/presentationml/2006/main">
  <p:tag name="KSO_WM_DIAGRAM_VIRTUALLY_FRAME" val="{&quot;height&quot;:113.7600787401575,&quot;left&quot;:42.65,&quot;top&quot;:248.1399212598425,&quot;width&quot;:885.5999212598424}"/>
</p:tagLst>
</file>

<file path=ppt/tags/tag83.xml><?xml version="1.0" encoding="utf-8"?>
<p:tagLst xmlns:p="http://schemas.openxmlformats.org/presentationml/2006/main">
  <p:tag name="KSO_WM_DIAGRAM_VIRTUALLY_FRAME" val="{&quot;height&quot;:113.7600787401575,&quot;left&quot;:42.65,&quot;top&quot;:248.1399212598425,&quot;width&quot;:885.5999212598424}"/>
</p:tagLst>
</file>

<file path=ppt/tags/tag84.xml><?xml version="1.0" encoding="utf-8"?>
<p:tagLst xmlns:p="http://schemas.openxmlformats.org/presentationml/2006/main">
  <p:tag name="KSO_WM_DIAGRAM_VIRTUALLY_FRAME" val="{&quot;height&quot;:113.7600787401575,&quot;left&quot;:42.65,&quot;top&quot;:248.1399212598425,&quot;width&quot;:885.5999212598424}"/>
</p:tagLst>
</file>

<file path=ppt/tags/tag85.xml><?xml version="1.0" encoding="utf-8"?>
<p:tagLst xmlns:p="http://schemas.openxmlformats.org/presentationml/2006/main">
  <p:tag name="KSO_WM_DIAGRAM_VIRTUALLY_FRAME" val="{&quot;height&quot;:113.7600787401575,&quot;left&quot;:42.65,&quot;top&quot;:248.1399212598425,&quot;width&quot;:885.5999212598424}"/>
</p:tagLst>
</file>

<file path=ppt/tags/tag86.xml><?xml version="1.0" encoding="utf-8"?>
<p:tagLst xmlns:p="http://schemas.openxmlformats.org/presentationml/2006/main">
  <p:tag name="KSO_WM_DIAGRAM_VIRTUALLY_FRAME" val="{&quot;height&quot;:113.7600787401575,&quot;left&quot;:42.65,&quot;top&quot;:248.1399212598425,&quot;width&quot;:885.5999212598424}"/>
</p:tagLst>
</file>

<file path=ppt/tags/tag87.xml><?xml version="1.0" encoding="utf-8"?>
<p:tagLst xmlns:p="http://schemas.openxmlformats.org/presentationml/2006/main">
  <p:tag name="KSO_WM_DIAGRAM_VIRTUALLY_FRAME" val="{&quot;height&quot;:113.7600787401575,&quot;left&quot;:42.65,&quot;top&quot;:248.1399212598425,&quot;width&quot;:885.5999212598424}"/>
</p:tagLst>
</file>

<file path=ppt/tags/tag88.xml><?xml version="1.0" encoding="utf-8"?>
<p:tagLst xmlns:p="http://schemas.openxmlformats.org/presentationml/2006/main">
  <p:tag name="KSO_WM_DIAGRAM_VIRTUALLY_FRAME" val="{&quot;height&quot;:113.7600787401575,&quot;left&quot;:42.65,&quot;top&quot;:248.1399212598425,&quot;width&quot;:885.599921259842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4718</Words>
  <Application>WPS 演示</Application>
  <PresentationFormat>On-screen Show (4:3)</PresentationFormat>
  <Paragraphs>524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赵翔</cp:lastModifiedBy>
  <cp:revision>19</cp:revision>
  <dcterms:created xsi:type="dcterms:W3CDTF">2013-01-27T09:14:00Z</dcterms:created>
  <dcterms:modified xsi:type="dcterms:W3CDTF">2026-08-28T03:00:17Z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3E3B1396B86A4B15997B831437CA1257_12</vt:lpwstr>
  </property>
  <property fmtid="{D5CDD505-2E9C-101B-9397-08002B2CF9AE}" pid="3" name="KSOProductBuildVer">
    <vt:lpwstr>2052-12.1.0.28043</vt:lpwstr>
  </property>
</Properties>
</file>